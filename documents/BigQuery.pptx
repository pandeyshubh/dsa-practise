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Host Grotesk"/>
      <p:regular r:id="rId201314"/>
    </p:embeddedFont>
    <p:embeddedFont>
      <p:font typeface="Host Grotesk Medium"/>
      <p:regular r:id="rId201315"/>
    </p:embeddedFont>
    <p:embeddedFont>
      <p:font typeface="Host Grotesk Bold"/>
      <p:regular r:id="rId201316"/>
    </p:embeddedFont>
    <p:embeddedFont>
      <p:font typeface="Roboto"/>
      <p:regular r:id="rId201317"/>
    </p:embeddedFont>
    <p:embeddedFont>
      <p:font typeface="Roboto Medium"/>
      <p:regular r:id="rId201318"/>
    </p:embeddedFont>
    <p:embeddedFont>
      <p:font typeface="Robot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loud.google.com/blog/products/bigquery/separation-of-storage-and-compute-in-bigquery" TargetMode="External"/><Relationship Id="rId2" Type="http://schemas.openxmlformats.org/officeDocument/2006/relationships/hyperlink" Target="https://docs.cloud.google.com/bigquery/docs/introduction" TargetMode="External"/><Relationship Id="rId3" Type="http://schemas.openxmlformats.org/officeDocument/2006/relationships/hyperlink" Target="https://adriennevermorel.com/notes/bigquery-table-types/" TargetMode="External"/><Relationship Id="rId4" Type="http://schemas.openxmlformats.org/officeDocument/2006/relationships/hyperlink" Target="https://docs.cloud.google.com/bigquery/docs/external-tables" TargetMode="External"/><Relationship Id="rId5" Type="http://schemas.openxmlformats.org/officeDocument/2006/relationships/hyperlink" Target="https://docs.cloud.google.com/bigquery/docs/biglake-intro" TargetMode="External"/><Relationship Id="rId6" Type="http://schemas.openxmlformats.org/officeDocument/2006/relationships/hyperlink" Target="https://cloud.google.com/bigquery/pricing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5034"/>
            <a:ext cx="991121" cy="215354"/>
          </a:xfrm>
          <a:prstGeom prst="roundRect">
            <a:avLst>
              <a:gd name="adj" fmla="val 2211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87524"/>
            <a:ext cx="127821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1558082" y="745034"/>
            <a:ext cx="114582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95C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3137" y="787524"/>
            <a:ext cx="14329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WAREHOUSE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017091"/>
            <a:ext cx="8151763" cy="8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BigQuery</a:t>
            </a:r>
            <a:endParaRPr lang="en-US" sz="5550" dirty="0"/>
          </a:p>
        </p:txBody>
      </p:sp>
      <p:sp>
        <p:nvSpPr>
          <p:cNvPr id="7" name="Text 5"/>
          <p:cNvSpPr/>
          <p:nvPr/>
        </p:nvSpPr>
        <p:spPr>
          <a:xfrm>
            <a:off x="496119" y="211574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4285F4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Architecture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4A8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Tables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&amp; 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EA4335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6119" y="2682701"/>
            <a:ext cx="815176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practical guide to Google Cloud's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serverless data warehouse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from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compute-storage separation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pricing models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table type trade-offs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6119" y="3373636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52015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Architecture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826669"/>
            <a:ext cx="232968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Serverless, decoupled compute &amp; 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0601" y="3373636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7122" y="352015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Table Types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07122" y="3826669"/>
            <a:ext cx="232968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Native, external, materialized &amp; more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3373636"/>
            <a:ext cx="2622724" cy="1024756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1605" y="352015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Pricing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71605" y="3826669"/>
            <a:ext cx="232968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On-demand vs. flat-rate cost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9642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BigQuery Architecture: Separation of Compute &amp; Storage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99134"/>
            <a:ext cx="2622724" cy="2314649"/>
          </a:xfrm>
          <a:prstGeom prst="roundRect">
            <a:avLst>
              <a:gd name="adj" fmla="val 25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214565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262560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71269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Compute Layer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3019202"/>
            <a:ext cx="2329681" cy="1148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Dremel Engine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Distributed query engine that scales automatically across thousands of workers — no infrastructure to manage.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999134"/>
            <a:ext cx="2622724" cy="2314649"/>
          </a:xfrm>
          <a:prstGeom prst="roundRect">
            <a:avLst>
              <a:gd name="adj" fmla="val 25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7122" y="214565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262560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271269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Storage Layer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3019202"/>
            <a:ext cx="2329681" cy="1148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Colossus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Google's global storage system with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99.999999999% durability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using columnar format optimized for analytics.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999134"/>
            <a:ext cx="2622724" cy="2314649"/>
          </a:xfrm>
          <a:prstGeom prst="roundRect">
            <a:avLst>
              <a:gd name="adj" fmla="val 2572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1605" y="214565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262560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2712690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Jupiter Network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3019202"/>
            <a:ext cx="2329681" cy="935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Petabit-scale fabric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High-speed interconnect eliminating I/O bottlenecks between compute and storage layers.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07095"/>
            <a:ext cx="1027509" cy="215354"/>
          </a:xfrm>
          <a:prstGeom prst="roundRect">
            <a:avLst>
              <a:gd name="adj" fmla="val 2211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49585"/>
            <a:ext cx="131459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STORAGE LAYER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7915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Native Tables: Standard BigQuery Tables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734741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BigQuery's proprietary table format — purpose-built for analytical performance at massive scale.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06811"/>
            <a:ext cx="2622724" cy="2229594"/>
          </a:xfrm>
          <a:prstGeom prst="roundRect">
            <a:avLst>
              <a:gd name="adj" fmla="val 267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2640" y="2253332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2370237"/>
            <a:ext cx="191319" cy="1913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2640" y="282036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Storage Format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2640" y="3126879"/>
            <a:ext cx="2329681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stored in BigQuery's proprietary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Capacitor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columnar format — optimized for analytical scan performance and compression.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0601" y="2106811"/>
            <a:ext cx="2622724" cy="2229594"/>
          </a:xfrm>
          <a:prstGeom prst="roundRect">
            <a:avLst>
              <a:gd name="adj" fmla="val 267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07122" y="2253332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101" y="2370237"/>
            <a:ext cx="191319" cy="1913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7122" y="282036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407122" y="3126879"/>
            <a:ext cx="2329681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Gold-layer analytics, high-concurrency dashboards, and real-time streaming inserts with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sub-second latency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No tuning required for high-concurrency workloads.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25083" y="2106811"/>
            <a:ext cx="2622724" cy="2229594"/>
          </a:xfrm>
          <a:prstGeom prst="roundRect">
            <a:avLst>
              <a:gd name="adj" fmla="val 267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71605" y="2253332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584" y="2370237"/>
            <a:ext cx="191319" cy="19131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1605" y="282036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Trade-off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171605" y="3126879"/>
            <a:ext cx="2329681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is locked inside BigQuery. Limited portability to other engines such as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Spark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Trino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meaningful constraint for multi-engine architectures.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399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External Tables: BigLake vs Standard External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3134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 External Tables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94558"/>
            <a:ext cx="390294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structured data in Cloud Storage, Bigtable, or other sources. Metadata lives in BigQuery; data stays external in its original format.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59906"/>
            <a:ext cx="3902943" cy="687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metadata caching — each query hits the source directly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 one-time ELT or infrequently accessed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7605" y="1789584"/>
            <a:ext cx="4107135" cy="2219846"/>
          </a:xfrm>
          <a:prstGeom prst="roundRect">
            <a:avLst>
              <a:gd name="adj" fmla="val 4598"/>
            </a:avLst>
          </a:prstGeom>
          <a:solidFill>
            <a:srgbClr val="A2B9F9"/>
          </a:solidFill>
          <a:ln/>
        </p:spPr>
      </p:sp>
      <p:sp>
        <p:nvSpPr>
          <p:cNvPr id="7" name="Text 5"/>
          <p:cNvSpPr/>
          <p:nvPr/>
        </p:nvSpPr>
        <p:spPr>
          <a:xfrm>
            <a:off x="4789363" y="193134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BigLake Tables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294558"/>
            <a:ext cx="3823618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external tables with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access delegation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row/column-level security, and metadata caching for near-native performance.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89363" y="3059906"/>
            <a:ext cx="3823618" cy="89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Fine-grained governance across multi-engine environments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Metadata caching eliminates repeated file listing overhead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99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Table Types: At a Glance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66404"/>
            <a:ext cx="2622724" cy="1365052"/>
          </a:xfrm>
          <a:prstGeom prst="roundRect">
            <a:avLst>
              <a:gd name="adj" fmla="val 436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222721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Native Tables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6927" y="2533724"/>
            <a:ext cx="2301106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Fastest query performance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&amp; high concurrency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 BI &amp; dashboards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66404"/>
            <a:ext cx="2622724" cy="1365052"/>
          </a:xfrm>
          <a:prstGeom prst="roundRect">
            <a:avLst>
              <a:gd name="adj" fmla="val 436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22721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BigLake Tables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21410" y="2533724"/>
            <a:ext cx="2301106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Row/column-level security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Metadata caching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 governed data lakes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66404"/>
            <a:ext cx="2622724" cy="1365052"/>
          </a:xfrm>
          <a:prstGeom prst="roundRect">
            <a:avLst>
              <a:gd name="adj" fmla="val 4362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85892" y="2227213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Standard External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85892" y="2533724"/>
            <a:ext cx="2301106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caching, queries hit source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setup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for one-time ELT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590925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Native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production BI,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BigLake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governed multi-engine access, and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Standard External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occasional queries.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521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Comparison: Native vs BigLake Tables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91717"/>
            <a:ext cx="8151763" cy="1761679"/>
          </a:xfrm>
          <a:prstGeom prst="roundRect">
            <a:avLst>
              <a:gd name="adj" fmla="val 338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596479"/>
            <a:ext cx="4071119" cy="1752154"/>
          </a:xfrm>
          <a:custGeom>
            <a:avLst/>
            <a:gdLst/>
            <a:ahLst/>
            <a:cxnLst/>
            <a:rect l="l" t="t" r="r" b="b"/>
            <a:pathLst>
              <a:path w="4071119" h="1752154">
                <a:moveTo>
                  <a:pt x="49619" y="0"/>
                </a:moveTo>
                <a:lnTo>
                  <a:pt x="4071119" y="0"/>
                </a:lnTo>
                <a:lnTo>
                  <a:pt x="4071119" y="1752154"/>
                </a:lnTo>
                <a:lnTo>
                  <a:pt x="49619" y="1752154"/>
                </a:lnTo>
                <a:arcTo hR="49619" wR="49619" stAng="5400000" swAng="5400000"/>
                <a:lnTo>
                  <a:pt x="0" y="49619"/>
                </a:lnTo>
                <a:arcTo hR="49619" wR="49619" stAng="10800000" swAng="5400000"/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5" name="Text 3"/>
          <p:cNvSpPr/>
          <p:nvPr/>
        </p:nvSpPr>
        <p:spPr>
          <a:xfrm>
            <a:off x="642640" y="1738238"/>
            <a:ext cx="3787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Native Tables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044750"/>
            <a:ext cx="3787601" cy="116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Storage: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$0.02/GB/month (active), $0.01/GB/month (archived)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Queries: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$6.25/TiB scanned (on-demand)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for: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High-concurrency dashboards and real-time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596479"/>
            <a:ext cx="4071119" cy="1752154"/>
          </a:xfrm>
          <a:custGeom>
            <a:avLst/>
            <a:gdLst/>
            <a:ahLst/>
            <a:cxnLst/>
            <a:rect l="l" t="t" r="r" b="b"/>
            <a:pathLst>
              <a:path w="4071119" h="1752154">
                <a:moveTo>
                  <a:pt x="0" y="0"/>
                </a:moveTo>
                <a:lnTo>
                  <a:pt x="4021500" y="0"/>
                </a:lnTo>
                <a:arcTo hR="49619" wR="49619" stAng="16200000" swAng="5400000"/>
                <a:lnTo>
                  <a:pt x="4071119" y="1702535"/>
                </a:lnTo>
                <a:arcTo hR="49619" wR="49619" stAng="0" swAng="5400000"/>
                <a:lnTo>
                  <a:pt x="0" y="1752154"/>
                </a:lnTo>
                <a:lnTo>
                  <a:pt x="0" y="0"/>
                </a:lnTo>
                <a:close/>
              </a:path>
            </a:pathLst>
          </a:custGeom>
          <a:solidFill>
            <a:srgbClr val="D9EDF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596479"/>
            <a:ext cx="19050" cy="1752154"/>
          </a:xfrm>
          <a:prstGeom prst="roundRect">
            <a:avLst>
              <a:gd name="adj" fmla="val 50000"/>
            </a:avLst>
          </a:prstGeom>
          <a:solidFill>
            <a:srgbClr val="BFD3D8"/>
          </a:solidFill>
          <a:ln/>
        </p:spPr>
      </p:sp>
      <p:sp>
        <p:nvSpPr>
          <p:cNvPr id="9" name="Text 7"/>
          <p:cNvSpPr/>
          <p:nvPr/>
        </p:nvSpPr>
        <p:spPr>
          <a:xfrm>
            <a:off x="4713759" y="1738238"/>
            <a:ext cx="37876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BigLake Tables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13759" y="2044750"/>
            <a:ext cx="3787601" cy="116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Storage: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$0.02/GB/month (Cloud Storage — no duplication)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Queries: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$6.25/TiB scanned, but 20–30% slower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for: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Governed data lakes and multi-engine architectures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512865"/>
            <a:ext cx="8151763" cy="765349"/>
          </a:xfrm>
          <a:prstGeom prst="roundRect">
            <a:avLst>
              <a:gd name="adj" fmla="val 7780"/>
            </a:avLst>
          </a:prstGeom>
          <a:solidFill>
            <a:srgbClr val="D9EDF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708871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56816" y="3690045"/>
            <a:ext cx="754930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Native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performance-critical workloads; choose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BigLake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when governance and multi-engine access outweigh the query performance trade-off.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3440"/>
            <a:ext cx="1051173" cy="212006"/>
          </a:xfrm>
          <a:prstGeom prst="roundRect">
            <a:avLst>
              <a:gd name="adj" fmla="val 22117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535260"/>
            <a:ext cx="1340941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GUIDE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6036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Override Strategies: Partition-Based Updates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56965"/>
            <a:ext cx="3905696" cy="92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0895" y="1715542"/>
            <a:ext cx="351234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External Tables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0895" y="2114550"/>
            <a:ext cx="3512344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BigLake &amp; Standard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6119" y="2635225"/>
            <a:ext cx="3905696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entire partition files in Cloud Storage — query refreshes automatically.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6119" y="3174057"/>
            <a:ext cx="3905696" cy="46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 old partition files from GCS (e.g., </a:t>
            </a:r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date=2024-08-01</a:t>
            </a:r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050" dirty="0"/>
          </a:p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new files to the same partition path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96119" y="3765724"/>
            <a:ext cx="3905696" cy="7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schema changes · No table recreation · Minimal downtime</a:t>
            </a:r>
            <a:endParaRPr lang="en-US" sz="10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for: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Daily/weekly batch updates, backfill scenarios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947" y="1556965"/>
            <a:ext cx="3905696" cy="92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1724" y="1715542"/>
            <a:ext cx="3512344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Native Tables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1724" y="2114550"/>
            <a:ext cx="3512344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BigQuery-managed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746947" y="2635225"/>
            <a:ext cx="3905696" cy="424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DML override using 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statements.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46947" y="3183582"/>
            <a:ext cx="3905696" cy="472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partition-aware upserts</a:t>
            </a:r>
            <a:endParaRPr lang="en-US" sz="1050" dirty="0"/>
          </a:p>
          <a:p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+ INSERT</a:t>
            </a:r>
            <a:pPr algn="l" marL="213360" indent="-213360">
              <a:lnSpc>
                <a:spcPct val="124000"/>
              </a:lnSpc>
              <a:buSzPct val="100000"/>
              <a:buChar char="•"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full partition replacement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46947" y="3780011"/>
            <a:ext cx="3905696" cy="7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pPr algn="l" indent="0" marL="0">
              <a:lnSpc>
                <a:spcPct val="124000"/>
              </a:lnSpc>
              <a:spcAft>
                <a:spcPts val="9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ACID transactions · Immediate consistency · No external storage management</a:t>
            </a:r>
            <a:endParaRPr lang="en-US" sz="10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Best for:</a:t>
            </a:r>
            <a:pPr algn="l"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Real-time corrections, complex business logic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67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Sources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73263"/>
            <a:ext cx="8151763" cy="152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Separation of storage and compute in BigQuery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BigQuery overview | Google Cloud Documentation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BigQuery Table Types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to external tables | BigQuery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to BigLake external tables | BigQuery | Google Cloud Documentation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3A6B7E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BigQuery pricing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A6B7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2026-08-01T23:37:59Z</dcterms:created>
  <dcterms:modified xsi:type="dcterms:W3CDTF">2026-08-01T23:37:59Z</dcterms:modified>
</cp:coreProperties>
</file>