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23.png"/><Relationship Id="rId13" Type="http://schemas.openxmlformats.org/officeDocument/2006/relationships/image" Target="../media/image24.png"/><Relationship Id="rId14" Type="http://schemas.openxmlformats.org/officeDocument/2006/relationships/image" Target="../media/image25.png"/><Relationship Id="rId15" Type="http://schemas.openxmlformats.org/officeDocument/2006/relationships/image" Target="../media/image26.png"/><Relationship Id="rId16" Type="http://schemas.openxmlformats.org/officeDocument/2006/relationships/image" Target="../media/image27.png"/><Relationship Id="rId17" Type="http://schemas.openxmlformats.org/officeDocument/2006/relationships/image" Target="../media/image28.png"/><Relationship Id="rId18" Type="http://schemas.openxmlformats.org/officeDocument/2006/relationships/image" Target="../media/image29.png"/><Relationship Id="rId19" Type="http://schemas.openxmlformats.org/officeDocument/2006/relationships/image" Target="../media/image30.png"/><Relationship Id="rId20" Type="http://schemas.openxmlformats.org/officeDocument/2006/relationships/image" Target="../media/image31.png"/><Relationship Id="rId21" Type="http://schemas.openxmlformats.org/officeDocument/2006/relationships/image" Target="../media/image32.png"/><Relationship Id="rId22" Type="http://schemas.openxmlformats.org/officeDocument/2006/relationships/image" Target="../media/image33.png"/><Relationship Id="rId23" Type="http://schemas.openxmlformats.org/officeDocument/2006/relationships/image" Target="../media/image3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5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2481" y="2071687"/>
            <a:ext cx="2967037" cy="3333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3456" y="2171700"/>
            <a:ext cx="147637" cy="133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3300" y="4491037"/>
            <a:ext cx="2057400" cy="2952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3100" y="4491037"/>
            <a:ext cx="1219200" cy="295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4700" y="4491037"/>
            <a:ext cx="1524000" cy="2952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50769" y="2633662"/>
            <a:ext cx="3690461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b="1" sz="4500" i="0" u="none">
                <a:solidFill>
                  <a:srgbClr val="FFFFFF"/>
                </a:solidFill>
                <a:latin typeface="Poppins"/>
              </a:rPr>
              <a:t>DAg Factory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0750" y="3509962"/>
            <a:ext cx="78105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62"/>
              </a:lnSpc>
            </a:pPr>
            <a:r>
              <a:rPr b="0" sz="1575" i="0" u="none">
                <a:solidFill>
                  <a:srgbClr val="94A3B8"/>
                </a:solidFill>
                <a:latin typeface="Inter"/>
              </a:rPr>
              <a:t>A declarative, configuration-driven tool managed by Astronomer for generating Airflow DAGs dynamically using YAML files.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27770"/>
            <a:ext cx="542925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6250" y="428625"/>
            <a:ext cx="5729287" cy="38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Poppins"/>
              </a:rPr>
              <a:t>What is DAg Factory &amp; Why Use It?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6250" y="817215"/>
            <a:ext cx="95250" cy="285750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9150" y="1889075"/>
            <a:ext cx="5086350" cy="752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Declarative Pipeline Generation: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Allows creating fully functional Airflow DAGs entirely from YAML configurations without writing complex Python scripts.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2813298"/>
            <a:ext cx="5086350" cy="752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Eliminates Python Boilerplate: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Removes redundant Airflow boilerplate code, task dependency setup, and operator instantiation.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737520"/>
            <a:ext cx="5086350" cy="752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Separation of Logic &amp; Structure: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Decouples the operational workflow structure (YAML) from the actual processing code (Python/SQL).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4661743"/>
            <a:ext cx="5086350" cy="752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Astronomer Open Source: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Maintained directly by Astronomer, ensuring enterprise reliability and seamless compatibility with Airflow 2.x+.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1937295"/>
            <a:ext cx="5410200" cy="3600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1922412"/>
            <a:ext cx="219075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2846635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3770858"/>
            <a:ext cx="219075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4695080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309913"/>
            <a:ext cx="11239500" cy="84355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321569"/>
            <a:ext cx="2524125" cy="175974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1375" y="2408187"/>
            <a:ext cx="2524125" cy="158650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2412950"/>
            <a:ext cx="2524125" cy="157698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91625" y="2326332"/>
            <a:ext cx="2524125" cy="175021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000375" y="3191916"/>
            <a:ext cx="3810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05500" y="3191916"/>
            <a:ext cx="3810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10625" y="3191916"/>
            <a:ext cx="3810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6250" y="428625"/>
            <a:ext cx="5434012" cy="38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Poppins"/>
              </a:rPr>
              <a:t>DAg Factory Architecture &amp; Flow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1737" y="497234"/>
            <a:ext cx="1624012" cy="25137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76250" y="817215"/>
            <a:ext cx="95250" cy="285750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15562" y="565695"/>
            <a:ext cx="119062" cy="1143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57325" y="2226319"/>
            <a:ext cx="561975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09712" y="2531119"/>
            <a:ext cx="4572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53239" y="3102619"/>
            <a:ext cx="1170146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b="1" sz="1200" i="0" u="none">
                <a:solidFill>
                  <a:srgbClr val="0F172A"/>
                </a:solidFill>
                <a:latin typeface="Poppins"/>
              </a:rPr>
              <a:t>YAML Configs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" y="3342530"/>
            <a:ext cx="2181225" cy="529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Write pipeline specs in </a:t>
            </a:r>
            <a:r>
              <a:rPr b="0" sz="975" i="0" u="none">
                <a:solidFill>
                  <a:srgbClr val="64748B"/>
                </a:solidFill>
                <a:latin typeface="Inter"/>
              </a:rPr>
              <a:t>dags/configs/*.yaml</a:t>
            </a:r>
            <a:r>
              <a:rPr b="0" sz="975" i="0" u="none">
                <a:solidFill>
                  <a:srgbClr val="64748B"/>
                </a:solidFill>
                <a:latin typeface="Inter"/>
              </a:rPr>
              <a:t> defining tasks &amp; schedules.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24200" y="3096666"/>
            <a:ext cx="133350" cy="2095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52925" y="2312937"/>
            <a:ext cx="581025" cy="1714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14837" y="2617737"/>
            <a:ext cx="457200" cy="457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928348" y="3189237"/>
            <a:ext cx="1430178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b="1" sz="1200" i="0" u="none">
                <a:solidFill>
                  <a:srgbClr val="0F172A"/>
                </a:solidFill>
                <a:latin typeface="Poppins"/>
              </a:rPr>
              <a:t>Generator Script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52825" y="3429148"/>
            <a:ext cx="2181225" cy="355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Python script imports </a:t>
            </a:r>
            <a:r>
              <a:rPr b="0" sz="975" i="0" u="none">
                <a:solidFill>
                  <a:srgbClr val="64748B"/>
                </a:solidFill>
                <a:latin typeface="Inter"/>
              </a:rPr>
              <a:t>dagfactory</a:t>
            </a:r>
            <a:r>
              <a:rPr b="0" sz="975" i="0" u="none">
                <a:solidFill>
                  <a:srgbClr val="64748B"/>
                </a:solidFill>
                <a:latin typeface="Inter"/>
              </a:rPr>
              <a:t> &amp; parses directory on Airflow loop.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29325" y="3096666"/>
            <a:ext cx="133350" cy="2095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58050" y="2317700"/>
            <a:ext cx="581025" cy="1714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19962" y="2622500"/>
            <a:ext cx="457200" cy="457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53475" y="3194000"/>
            <a:ext cx="1390173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b="1" sz="1200" i="0" u="none">
                <a:solidFill>
                  <a:srgbClr val="0F172A"/>
                </a:solidFill>
                <a:latin typeface="Poppins"/>
              </a:rPr>
              <a:t>Airflow DAG Bag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7950" y="3433911"/>
            <a:ext cx="2181225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Dynamically constructs DAG objects post-deploy during parsing.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34450" y="3096666"/>
            <a:ext cx="133350" cy="2095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163175" y="2231082"/>
            <a:ext cx="581025" cy="1714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225087" y="2535882"/>
            <a:ext cx="457200" cy="4572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613582" y="3107382"/>
            <a:ext cx="1680210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b="1" sz="1200" i="0" u="none">
                <a:solidFill>
                  <a:srgbClr val="FFFFFF"/>
                </a:solidFill>
                <a:latin typeface="Poppins"/>
              </a:rPr>
              <a:t>Airflow UI Execution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63075" y="3347293"/>
            <a:ext cx="2181225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DAGs rendered in Airflow Webserver ready for schedule or trigger.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4375" y="4500413"/>
            <a:ext cx="171450" cy="17145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00125" y="4471838"/>
            <a:ext cx="3174950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0F172A"/>
                </a:solidFill>
                <a:latin typeface="Inter SemiBold"/>
              </a:rPr>
              <a:t>Post-Deploy Generation: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 Adding or updating YAML files instantly creates new Airflow DAGs without code redeploys.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365575" y="4500413"/>
            <a:ext cx="171450" cy="1714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651325" y="4471838"/>
            <a:ext cx="3174950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0F172A"/>
                </a:solidFill>
                <a:latin typeface="Inter SemiBold"/>
              </a:rPr>
              <a:t>Single Loader Script: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 A 4-line Python file parses hundreds of YAML configurations dynamically.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16775" y="4500413"/>
            <a:ext cx="171450" cy="17145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302525" y="4471838"/>
            <a:ext cx="3175099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0F172A"/>
                </a:solidFill>
                <a:latin typeface="Inter SemiBold"/>
              </a:rPr>
              <a:t>Zero Memory Bloat: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 Cleanly decouples task definition from Airflow scheduler execution memory.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657350" y="2654944"/>
            <a:ext cx="161925" cy="20955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10087" y="2741562"/>
            <a:ext cx="266700" cy="20955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443787" y="2746325"/>
            <a:ext cx="209550" cy="2095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348912" y="2659707"/>
            <a:ext cx="20955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537370"/>
            <a:ext cx="3594050" cy="2400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900" y="2537370"/>
            <a:ext cx="3594050" cy="2400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1550" y="2537370"/>
            <a:ext cx="3594050" cy="2400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6250" y="428625"/>
            <a:ext cx="5634037" cy="38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Poppins"/>
              </a:rPr>
              <a:t>Who Benefits &amp; Target Audiences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6250" y="817215"/>
            <a:ext cx="95250" cy="285750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25" y="2813595"/>
            <a:ext cx="495300" cy="495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5325" y="3480345"/>
            <a:ext cx="264033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500" i="0" u="none">
                <a:solidFill>
                  <a:srgbClr val="0F172A"/>
                </a:solidFill>
                <a:latin typeface="Poppins"/>
              </a:rPr>
              <a:t>Data Analysts &amp; SQL Devs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3804195"/>
            <a:ext cx="31559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Build and orchestrate production-grade data pipelines using simple YAML without needing deep mastery of Airflow primitives or Python paradigms.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7975" y="2813595"/>
            <a:ext cx="495300" cy="495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17975" y="3480345"/>
            <a:ext cx="204025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500" i="0" u="none">
                <a:solidFill>
                  <a:srgbClr val="0F172A"/>
                </a:solidFill>
                <a:latin typeface="Poppins"/>
              </a:rPr>
              <a:t>Analytics Engineers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975" y="3804195"/>
            <a:ext cx="31559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Standardize repetitive Extract-and-Load (ELT) jobs across the enterprise. Easily duplicate workflow structures by updating YAML parameters.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0625" y="2813595"/>
            <a:ext cx="495300" cy="4953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40625" y="3480345"/>
            <a:ext cx="222027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500" i="0" u="none">
                <a:solidFill>
                  <a:srgbClr val="0F172A"/>
                </a:solidFill>
                <a:latin typeface="Poppins"/>
              </a:rPr>
              <a:t>Data Platform Teams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0625" y="3804195"/>
            <a:ext cx="31559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Enforce strict architectural guidelines, streamline pull request code reviews, and drastically reduce DAG processor parser overhead.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2946945"/>
            <a:ext cx="285750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7037" y="2946945"/>
            <a:ext cx="257175" cy="228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45400" y="2946945"/>
            <a:ext cx="28575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134939"/>
            <a:ext cx="5429250" cy="32051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134939"/>
            <a:ext cx="5429250" cy="32051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2567582"/>
            <a:ext cx="3048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3405187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4242792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250" y="428625"/>
            <a:ext cx="5857875" cy="38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Poppins"/>
              </a:rPr>
              <a:t>High-Level Setup &amp; Usage Example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6250" y="817215"/>
            <a:ext cx="95250" cy="285750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10600" y="2334964"/>
            <a:ext cx="286702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94A3B8"/>
                </a:solidFill>
                <a:latin typeface="Fira Code"/>
              </a:rPr>
              <a:t> dags/configs/my_pipeline.yaml</a:t>
            </a:r>
            <a:r>
              <a:rPr b="0" sz="900" i="0" u="none">
                <a:solidFill>
                  <a:srgbClr val="94A3B8"/>
                </a:solidFill>
                <a:latin typeface="Fira Code"/>
              </a:rPr>
              <a:t> </a:t>
            </a:r>
            <a:r>
              <a:rPr b="0" sz="900" i="0" u="none">
                <a:solidFill>
                  <a:srgbClr val="94A3B8"/>
                </a:solidFill>
                <a:latin typeface="Fira Code"/>
              </a:rPr>
              <a:t>YAML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24625" y="2601664"/>
            <a:ext cx="4953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1575" y="2567582"/>
            <a:ext cx="4679022" cy="194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30"/>
              </a:lnSpc>
            </a:pPr>
            <a:r>
              <a:rPr b="1" sz="1275" i="0" u="none">
                <a:solidFill>
                  <a:srgbClr val="0F172A"/>
                </a:solidFill>
                <a:latin typeface="Poppins"/>
              </a:rPr>
              <a:t>Install Dependency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1575" y="2799903"/>
            <a:ext cx="4456211" cy="2160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Add </a:t>
            </a:r>
            <a:r>
              <a:rPr b="0" sz="1050" i="0" u="none">
                <a:solidFill>
                  <a:srgbClr val="64748B"/>
                </a:solidFill>
                <a:latin typeface="Inter"/>
              </a:rPr>
              <a:t>dag-factory</a:t>
            </a:r>
            <a:r>
              <a:rPr b="0" sz="1050" i="0" u="none">
                <a:solidFill>
                  <a:srgbClr val="64748B"/>
                </a:solidFill>
                <a:latin typeface="Inter"/>
              </a:rPr>
              <a:t> to your Airflow </a:t>
            </a:r>
            <a:r>
              <a:rPr b="0" sz="1050" i="0" u="none">
                <a:solidFill>
                  <a:srgbClr val="64748B"/>
                </a:solidFill>
                <a:latin typeface="Inter"/>
              </a:rPr>
              <a:t>requirements.txt</a:t>
            </a:r>
            <a:r>
              <a:rPr b="0" sz="1050" i="0" u="none">
                <a:solidFill>
                  <a:srgbClr val="64748B"/>
                </a:solidFill>
                <a:latin typeface="Inter"/>
              </a:rPr>
              <a:t> or environment.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1575" y="3405187"/>
            <a:ext cx="4646987" cy="194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30"/>
              </a:lnSpc>
            </a:pPr>
            <a:r>
              <a:rPr b="1" sz="1275" i="0" u="none">
                <a:solidFill>
                  <a:srgbClr val="0F172A"/>
                </a:solidFill>
                <a:latin typeface="Poppins"/>
              </a:rPr>
              <a:t>Write YAML Definition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1575" y="3637508"/>
            <a:ext cx="4425701" cy="2160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Create a configuration YAML file under </a:t>
            </a:r>
            <a:r>
              <a:rPr b="0" sz="1050" i="0" u="none">
                <a:solidFill>
                  <a:srgbClr val="64748B"/>
                </a:solidFill>
                <a:latin typeface="Inter"/>
              </a:rPr>
              <a:t>dags/configs/my_dag.yaml</a:t>
            </a:r>
            <a:r>
              <a:rPr b="0" sz="1050" i="0" u="none">
                <a:solidFill>
                  <a:srgbClr val="64748B"/>
                </a:solidFill>
                <a:latin typeface="Inter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1575" y="4242792"/>
            <a:ext cx="4720590" cy="194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30"/>
              </a:lnSpc>
            </a:pPr>
            <a:r>
              <a:rPr b="1" sz="1275" i="0" u="none">
                <a:solidFill>
                  <a:srgbClr val="0F172A"/>
                </a:solidFill>
                <a:latin typeface="Poppins"/>
              </a:rPr>
              <a:t>One-Time Python Generator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1575" y="4475112"/>
            <a:ext cx="4495800" cy="432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Add a 4-line standard loader script in </a:t>
            </a:r>
            <a:r>
              <a:rPr b="0" sz="1050" i="0" u="none">
                <a:solidFill>
                  <a:srgbClr val="64748B"/>
                </a:solidFill>
                <a:latin typeface="Inter"/>
              </a:rPr>
              <a:t>dags/generate_dags.py</a:t>
            </a:r>
            <a:r>
              <a:rPr b="0" sz="1050" i="0" u="none">
                <a:solidFill>
                  <a:srgbClr val="64748B"/>
                </a:solidFill>
                <a:latin typeface="Inter"/>
              </a:rPr>
              <a:t> using </a:t>
            </a:r>
            <a:r>
              <a:rPr b="0" sz="1050" i="0" u="none">
                <a:solidFill>
                  <a:srgbClr val="64748B"/>
                </a:solidFill>
                <a:latin typeface="Inter"/>
              </a:rPr>
              <a:t>dagfactory.DagFactory()</a:t>
            </a:r>
            <a:r>
              <a:rPr b="0" sz="1050" i="0" u="none">
                <a:solidFill>
                  <a:srgbClr val="64748B"/>
                </a:solidFill>
                <a:latin typeface="Inter"/>
              </a:rPr>
              <a:t>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4625" y="2363539"/>
            <a:ext cx="85725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789783"/>
            <a:ext cx="4886325" cy="1895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3575" y="2074068"/>
            <a:ext cx="5972175" cy="100741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3575" y="3233886"/>
            <a:ext cx="5972175" cy="100741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3575" y="4393703"/>
            <a:ext cx="5972175" cy="10074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250" y="428625"/>
            <a:ext cx="5243512" cy="38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Poppins"/>
              </a:rPr>
              <a:t>Impact on Delivery &amp; Efficiency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6250" y="817215"/>
            <a:ext cx="95250" cy="285750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3170783"/>
            <a:ext cx="4314825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b="1" sz="6600" i="0" u="none">
                <a:solidFill>
                  <a:srgbClr val="FFFFFF"/>
                </a:solidFill>
                <a:latin typeface="Poppins"/>
              </a:rPr>
              <a:t>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085183"/>
            <a:ext cx="431482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425" i="0" u="none">
                <a:solidFill>
                  <a:srgbClr val="C7D2FE"/>
                </a:solidFill>
                <a:latin typeface="Inter Medium"/>
              </a:rPr>
              <a:t>Faster Pipeline Time-to-Market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1225" y="2255043"/>
            <a:ext cx="5780722" cy="194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30"/>
              </a:lnSpc>
            </a:pPr>
            <a:r>
              <a:rPr b="1" sz="1275" i="0" u="none">
                <a:solidFill>
                  <a:srgbClr val="0F172A"/>
                </a:solidFill>
                <a:latin typeface="Poppins"/>
              </a:rPr>
              <a:t>70%+ Reduction in Python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91225" y="2487364"/>
            <a:ext cx="5505450" cy="413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Eliminates repetitive Python boilerplate across engineering teams, accelerating daily sprint throughput.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1225" y="3414861"/>
            <a:ext cx="5780722" cy="194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30"/>
              </a:lnSpc>
            </a:pPr>
            <a:r>
              <a:rPr b="1" sz="1275" i="0" u="none">
                <a:solidFill>
                  <a:srgbClr val="0F172A"/>
                </a:solidFill>
                <a:latin typeface="Poppins"/>
              </a:rPr>
              <a:t>Zero Airflow Python Learning Curve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91225" y="3647182"/>
            <a:ext cx="5505450" cy="413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Enables non-Python domain experts to safely author production-ready DAGs without syntax errors.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91225" y="4574678"/>
            <a:ext cx="5780722" cy="194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30"/>
              </a:lnSpc>
            </a:pPr>
            <a:r>
              <a:rPr b="1" sz="1275" i="0" u="none">
                <a:solidFill>
                  <a:srgbClr val="0F172A"/>
                </a:solidFill>
                <a:latin typeface="Poppins"/>
              </a:rPr>
              <a:t>Accelerated CI/CD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91225" y="4806999"/>
            <a:ext cx="5505450" cy="413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Declarative YAML schemas allow instant linting and syntax checking before deployment to Airflow environments.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537370"/>
            <a:ext cx="3594050" cy="2400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900" y="2537370"/>
            <a:ext cx="3594050" cy="2400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1550" y="2537370"/>
            <a:ext cx="3594050" cy="2400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6250" y="428625"/>
            <a:ext cx="6138862" cy="38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Poppins"/>
              </a:rPr>
              <a:t>Maintenance, Scaling &amp; Governance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6250" y="817215"/>
            <a:ext cx="95250" cy="285750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25" y="2813595"/>
            <a:ext cx="495300" cy="495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5325" y="3480345"/>
            <a:ext cx="302037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500" i="0" u="none">
                <a:solidFill>
                  <a:srgbClr val="0F172A"/>
                </a:solidFill>
                <a:latin typeface="Poppins"/>
              </a:rPr>
              <a:t>Modular Project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3804195"/>
            <a:ext cx="31559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Keep YAML configs in </a:t>
            </a:r>
            <a:r>
              <a:rPr b="0" sz="1125" i="0" u="none">
                <a:solidFill>
                  <a:srgbClr val="64748B"/>
                </a:solidFill>
                <a:latin typeface="Inter"/>
              </a:rPr>
              <a:t>dags/</a:t>
            </a:r>
            <a:r>
              <a:rPr b="0" sz="1125" i="0" u="none">
                <a:solidFill>
                  <a:srgbClr val="64748B"/>
                </a:solidFill>
                <a:latin typeface="Inter"/>
              </a:rPr>
              <a:t> and reusable Python scripts in </a:t>
            </a:r>
            <a:r>
              <a:rPr b="0" sz="1125" i="0" u="none">
                <a:solidFill>
                  <a:srgbClr val="64748B"/>
                </a:solidFill>
                <a:latin typeface="Inter"/>
              </a:rPr>
              <a:t>include/tasks/</a:t>
            </a:r>
            <a:r>
              <a:rPr b="0" sz="1125" i="0" u="none">
                <a:solidFill>
                  <a:srgbClr val="64748B"/>
                </a:solidFill>
                <a:latin typeface="Inter"/>
              </a:rPr>
              <a:t>. This prevents the DAG processor from parsing execution logic unnecessarily.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7975" y="2813595"/>
            <a:ext cx="495300" cy="495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17975" y="3480345"/>
            <a:ext cx="306038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500" i="0" u="none">
                <a:solidFill>
                  <a:srgbClr val="0F172A"/>
                </a:solidFill>
                <a:latin typeface="Poppins"/>
              </a:rPr>
              <a:t>Template-Driven Scale (DRY)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975" y="3804195"/>
            <a:ext cx="31559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Avoid duplicating code. Generate dozens of similar ingestion DAGs dynamically from a single master YAML template with different parameter inputs.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0625" y="2813595"/>
            <a:ext cx="495300" cy="4953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40625" y="3480345"/>
            <a:ext cx="190023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500" i="0" u="none">
                <a:solidFill>
                  <a:srgbClr val="0F172A"/>
                </a:solidFill>
                <a:latin typeface="Poppins"/>
              </a:rPr>
              <a:t>Clean Git Auditing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0625" y="3804195"/>
            <a:ext cx="31559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Diffing YAML file changes during Pull Requests is straightforward and human-readable, reducing bugs, security vulnerabilities, and deployment risks.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4387" y="2946945"/>
            <a:ext cx="257175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5612" y="2946945"/>
            <a:ext cx="200025" cy="228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45400" y="2946945"/>
            <a:ext cx="28575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3499395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14775" y="3499693"/>
            <a:ext cx="5457825" cy="191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https://montecarlo.ai/wp-content/uploads/2023/07/what-is-data-pipeline-architecture.webp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14775" y="3739157"/>
            <a:ext cx="5457825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montecarlo.ai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428625"/>
            <a:ext cx="11715750" cy="38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Poppins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